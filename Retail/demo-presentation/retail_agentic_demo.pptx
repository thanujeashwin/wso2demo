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WSO2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82296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Agentic AI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2011680" cy="4572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78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orchestration demo powered by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AI Gateway  ·  Google Gemini  ·  WSO2 Agent Manager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965960" cy="402336"/>
          </a:xfrm>
          <a:prstGeom prst="rect">
            <a:avLst/>
          </a:prstGeom>
          <a:solidFill>
            <a:srgbClr val="2E3E4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564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456432"/>
            <a:ext cx="1965960" cy="402336"/>
          </a:xfrm>
          <a:prstGeom prst="rect">
            <a:avLst/>
          </a:prstGeom>
          <a:solidFill>
            <a:srgbClr val="2E3E4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4564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456432"/>
            <a:ext cx="1965960" cy="402336"/>
          </a:xfrm>
          <a:prstGeom prst="rect">
            <a:avLst/>
          </a:prstGeom>
          <a:solidFill>
            <a:srgbClr val="2E3E4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4564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3456432"/>
            <a:ext cx="1965960" cy="402336"/>
          </a:xfrm>
          <a:prstGeom prst="rect">
            <a:avLst/>
          </a:prstGeom>
          <a:solidFill>
            <a:srgbClr val="2E3E4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4564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" y="4270248"/>
            <a:ext cx="694944" cy="694944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4288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retail operations demand real-time coordination across disconnected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260604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207008"/>
            <a:ext cx="566928" cy="566928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" y="18836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" y="2322576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stock, warehouse fulfilment, and supplier reordering run in siloed systems with no real-time coordination.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78992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78992"/>
            <a:ext cx="260604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96512" y="1207008"/>
            <a:ext cx="566928" cy="566928"/>
          </a:xfrm>
          <a:prstGeom prst="ellipse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74136" y="18836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Response Times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322576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hand-offs between teams mean stockouts go undetected, replenishment is delayed, and customers are left waiting.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78992"/>
            <a:ext cx="260604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1207008"/>
            <a:ext cx="566928" cy="566928"/>
          </a:xfrm>
          <a:prstGeom prst="ellipse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Observability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2322576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of what each system is doing. Errors surface too late, with no audit trail across the supply chain.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206240"/>
            <a:ext cx="8321040" cy="658368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519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part of the retail chain could respond intelligently — in real time — without human intervention?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WSO2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82296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719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79806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Specialised AI Agents working in concert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4270248"/>
            <a:ext cx="694944" cy="694944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4288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autonomous ReAct agents orchestrated via WSO2 Agent Manager on Kubernetes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solidFill>
            <a:srgbClr val="EEF2F6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AGENT MANAGER  (Kubernetes / Choreo)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9019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1901952" cy="2926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· 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· Profile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3163824"/>
            <a:ext cx="1463040" cy="201168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via AI Gateway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67712" y="2304288"/>
            <a:ext cx="219456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219456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1389888"/>
            <a:ext cx="19019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389888"/>
            <a:ext cx="1901952" cy="292608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37360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2377440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· Reorder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06624" y="3163824"/>
            <a:ext cx="1463040" cy="201168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6624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via AI Gateway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0" y="2304288"/>
            <a:ext cx="219456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9456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08576" y="1389888"/>
            <a:ext cx="19019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1389888"/>
            <a:ext cx="1901952" cy="292608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737360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0016" y="2377440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&amp; dispatch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3163824"/>
            <a:ext cx="1463040" cy="201168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via AI Gateway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10528" y="2304288"/>
            <a:ext cx="219456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219456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9984" y="1389888"/>
            <a:ext cx="19019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9984" y="1389888"/>
            <a:ext cx="1901952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1737360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21424" y="2377440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3163824"/>
            <a:ext cx="1463040" cy="201168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via AI Gateway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547872"/>
            <a:ext cx="8595360" cy="566928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66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Tracing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3749040"/>
            <a:ext cx="54864" cy="164592"/>
          </a:xfrm>
          <a:prstGeom prst="rect">
            <a:avLst/>
          </a:prstGeom>
          <a:solidFill>
            <a:srgbClr val="3A4858"/>
          </a:solidFill>
          <a:ln w="12700">
            <a:solidFill>
              <a:srgbClr val="3A4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23744" y="3566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/chat  endpoint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26864" y="3749040"/>
            <a:ext cx="54864" cy="164592"/>
          </a:xfrm>
          <a:prstGeom prst="rect">
            <a:avLst/>
          </a:prstGeom>
          <a:solidFill>
            <a:srgbClr val="3A4858"/>
          </a:solidFill>
          <a:ln w="12700">
            <a:solidFill>
              <a:srgbClr val="3A4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566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(k3d / Choreo)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3749040"/>
            <a:ext cx="54864" cy="164592"/>
          </a:xfrm>
          <a:prstGeom prst="rect">
            <a:avLst/>
          </a:prstGeom>
          <a:solidFill>
            <a:srgbClr val="3A4858"/>
          </a:solidFill>
          <a:ln w="12700">
            <a:solidFill>
              <a:srgbClr val="3A48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3566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AI Gateway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242816"/>
            <a:ext cx="8375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agents share the same POST /chat interface — fully portable across environments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Communication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arrow is a traced tool call — visible as a span in WSO2 Agent Manager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755648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1755648" cy="32918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8755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08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browse_products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828800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37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check_stock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15798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place_order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487168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track_order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816352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notify_inventory_agent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145536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054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notify_warehouse_agent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47872" y="987552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47872" y="987552"/>
            <a:ext cx="1993392" cy="329184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9875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75888" y="1499616"/>
            <a:ext cx="64008" cy="64008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140817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reserve_stock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75888" y="1828800"/>
            <a:ext cx="64008" cy="64008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173736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check_inventory_levels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75888" y="2157984"/>
            <a:ext cx="64008" cy="64008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85616" y="20665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release_reservation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47872" y="2578608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2578608"/>
            <a:ext cx="1993392" cy="329184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257860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Agent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75888" y="3090672"/>
            <a:ext cx="64008" cy="64008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299923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create_fulfilment_task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75888" y="3419856"/>
            <a:ext cx="64008" cy="64008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33284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assign_picker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75888" y="3749040"/>
            <a:ext cx="64008" cy="64008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36576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update_dispatch_status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31152" y="98755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31152" y="987552"/>
            <a:ext cx="192024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987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Agent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59168" y="1499616"/>
            <a:ext cx="64008" cy="64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8896" y="140817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raise_purchase_order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59168" y="1828800"/>
            <a:ext cx="64008" cy="64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68896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get_supplier_info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1677924"/>
            <a:ext cx="1399032" cy="36576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01568" y="1568196"/>
            <a:ext cx="146304" cy="219456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15407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&gt;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0" y="1412748"/>
            <a:ext cx="1536192" cy="219456"/>
          </a:xfrm>
          <a:prstGeom prst="rect">
            <a:avLst/>
          </a:prstGeom>
          <a:solidFill>
            <a:srgbClr val="EDF3FA"/>
          </a:solidFill>
          <a:ln w="6350">
            <a:solidFill>
              <a:srgbClr val="0A7C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14127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-50" kern="0" dirty="0">
                <a:solidFill>
                  <a:srgbClr val="0A7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tool.notify_inventory_agent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011680" y="3268980"/>
            <a:ext cx="1399032" cy="36576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01568" y="3159252"/>
            <a:ext cx="146304" cy="219456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31318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&gt;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0" y="3003804"/>
            <a:ext cx="1536192" cy="219456"/>
          </a:xfrm>
          <a:prstGeom prst="rect">
            <a:avLst/>
          </a:prstGeom>
          <a:solidFill>
            <a:srgbClr val="EDF3FA"/>
          </a:solidFill>
          <a:ln w="6350">
            <a:solidFill>
              <a:srgbClr val="00967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0" y="30038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-50" kern="0" dirty="0">
                <a:solidFill>
                  <a:srgbClr val="009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tool.notify_warehouse_agent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541264" y="1677924"/>
            <a:ext cx="1252728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84848" y="1568196"/>
            <a:ext cx="146304" cy="21945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15407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&gt;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541264" y="1412748"/>
            <a:ext cx="1389888" cy="219456"/>
          </a:xfrm>
          <a:prstGeom prst="rect">
            <a:avLst/>
          </a:prstGeom>
          <a:solidFill>
            <a:srgbClr val="EDF3FA"/>
          </a:solidFill>
          <a:ln w="6350">
            <a:solidFill>
              <a:srgbClr val="7B5EA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1264" y="14127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-50" kern="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tool.notify_supplier_agent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4462272"/>
            <a:ext cx="8577072" cy="438912"/>
          </a:xfrm>
          <a:prstGeom prst="rect">
            <a:avLst/>
          </a:prstGeom>
          <a:solidFill>
            <a:srgbClr val="212A32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462272"/>
            <a:ext cx="8577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AI Gateway  (Gemini)  —  ReAct loop runs inside every agent; each LLM call routes through the AI Gateway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133856" y="4315968"/>
            <a:ext cx="36576" cy="164592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44568" y="4315968"/>
            <a:ext cx="36576" cy="164592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44568" y="4315968"/>
            <a:ext cx="36576" cy="164592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91272" y="4315968"/>
            <a:ext cx="36576" cy="164592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Placing an order triggers a chain of autonomous agent actions — all visible in WSO2 Agent Manager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95681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51560"/>
            <a:ext cx="1956816" cy="41148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places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 uses Gemini (ReAct loop) to call place_order. Order confirmed &amp; stock deducted in real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3657600"/>
            <a:ext cx="1773936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6576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tool.place_order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04288" y="2057400"/>
            <a:ext cx="164592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93852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05456" y="1051560"/>
            <a:ext cx="195681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05456" y="1051560"/>
            <a:ext cx="1956816" cy="411480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1051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15184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notified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15184" y="207568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 calls notify_inventory_agent as a traced tool call. Inventory Agent reserves stock using its ReAct loop.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96896" y="3657600"/>
            <a:ext cx="1773936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36576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7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tool.notify_inventory_agent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2057400"/>
            <a:ext cx="164592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193852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195681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51560"/>
            <a:ext cx="1956816" cy="411480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51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73168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activated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207568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 simultaneously calls notify_warehouse_agent. Warehouse Agent prepares pick-and-dispatch workflow.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1773936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576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tool.notify_warehouse_agent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20256" y="2057400"/>
            <a:ext cx="164592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1938528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300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1424" y="1051560"/>
            <a:ext cx="195681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21424" y="1051560"/>
            <a:ext cx="1956816" cy="4114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1051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31152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reorders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31152" y="207568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Agent detects low stock and calls notify_supplier_agent. Supplier Agent raises purchase orders automatically.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12864" y="3657600"/>
            <a:ext cx="1773936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36576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tool.notify_supplier_agent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7472" y="4498848"/>
            <a:ext cx="8449056" cy="420624"/>
          </a:xfrm>
          <a:prstGeom prst="rect">
            <a:avLst/>
          </a:prstGeom>
          <a:solidFill>
            <a:srgbClr val="212A32"/>
          </a:solidFill>
          <a:ln w="12700">
            <a:solidFill>
              <a:srgbClr val="212A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1713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emits an OpenTelemetry span — the full chain is visible as a single trace in WSO2 Agent Manager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WSO2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82296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719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79806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open standards — fully observable, fully portable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4270248"/>
            <a:ext cx="694944" cy="694944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4288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standards · Vendor-portable · Enterprise-grade observability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697480" cy="38404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60934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554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gemini-3.5-flash via google-genai SDK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63347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79806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743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AI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07238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entry-point for all LLM calls — auth, rate-limit, audit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82219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98678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931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Think → Act → Observe loop (no LangChain)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987552"/>
            <a:ext cx="2697480" cy="384048"/>
          </a:xfrm>
          <a:prstGeom prst="rect">
            <a:avLst/>
          </a:prstGeom>
          <a:solidFill>
            <a:srgbClr val="0A7CC7"/>
          </a:solidFill>
          <a:ln w="12700">
            <a:solidFill>
              <a:srgbClr val="0A7C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144475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28416" y="160934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554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Agent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28416" y="188366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Deploys, scales and traces every agent on Kubernetes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63347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28416" y="279806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743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28416" y="307238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/chat  ·  {message, session_id, context}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82219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28416" y="398678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931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TOOL_REGISTRY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8416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Per-agent tool catalogue — LLM selects, loop executes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53328" y="987552"/>
            <a:ext cx="2697480" cy="384048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53328" y="144475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160934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554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81344" y="188366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Auto-injected Traceloop SDK — every span captured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53328" y="263347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81344" y="279806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743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Tool Calls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81344" y="307238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tool.place_order → tool.notify_* → llm.generate as child spans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53328" y="3822192"/>
            <a:ext cx="2697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3986784"/>
            <a:ext cx="64008" cy="64008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931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trace_tool decorator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81344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decorator makes any function a visible trace span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demo proves for enterprise deployments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4041648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24128"/>
            <a:ext cx="54864" cy="1719072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7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30352" y="195681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65376" y="1225296"/>
            <a:ext cx="27432" cy="126187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1225296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flow: Customer → Inventory → Warehouse → Supplier, zero manual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08576" y="1024128"/>
            <a:ext cx="4041648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024128"/>
            <a:ext cx="54864" cy="1719072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7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95681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225296"/>
            <a:ext cx="27432" cy="126187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25296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LLM call, tool execution and agent notification visible as an OTel span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962656"/>
            <a:ext cx="4041648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962656"/>
            <a:ext cx="54864" cy="1719072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2724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7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30352" y="389534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65376" y="3163824"/>
            <a:ext cx="27432" cy="126187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4248" y="316382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order placement to warehouse notification — all within the same HTTP request cycle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08576" y="2962656"/>
            <a:ext cx="4041648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2962656"/>
            <a:ext cx="54864" cy="1719072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12724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7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4754880" y="389534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Lock-in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9904" y="3163824"/>
            <a:ext cx="27432" cy="126187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16382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loop is plain Python. Swap Gemini for any LLM by changing one env var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WSO2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822960" cy="36576"/>
          </a:xfrm>
          <a:prstGeom prst="rect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002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474720" y="2432304"/>
            <a:ext cx="2194560" cy="45720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542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896" y="4270248"/>
            <a:ext cx="694944" cy="694944"/>
          </a:xfrm>
          <a:prstGeom prst="ellipse">
            <a:avLst/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4288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39776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algn="ctr" indent="0" marL="0">
              <a:buNone/>
            </a:pPr>
            <a:r>
              <a:rPr lang="en-US" sz="1200" dirty="0">
                <a:solidFill>
                  <a:srgbClr val="9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github.com/wso2demo/Retail  </a:t>
            </a:r>
            <a:pPr algn="ctr" indent="0" marL="0">
              <a:buNone/>
            </a:pPr>
            <a:r>
              <a:rPr lang="en-US" sz="1200" dirty="0">
                <a:solidFill>
                  <a:srgbClr val="3A4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200" b="1" dirty="0">
                <a:solidFill>
                  <a:srgbClr val="FFC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</a:t>
            </a:r>
            <a:pPr algn="ctr" indent="0" marL="0">
              <a:buNone/>
            </a:pPr>
            <a:r>
              <a:rPr lang="en-US" sz="1200" dirty="0">
                <a:solidFill>
                  <a:srgbClr val="9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wso2.com/ai-agents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4892040"/>
            <a:ext cx="137160" cy="137160"/>
          </a:xfrm>
          <a:prstGeom prst="rect">
            <a:avLst/>
          </a:prstGeom>
          <a:solidFill>
            <a:srgbClr val="FFC808"/>
          </a:solidFill>
          <a:ln w="12700">
            <a:solidFill>
              <a:srgbClr val="FFC80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Agentic AI Demo — WSO2</dc:title>
  <dc:subject>PptxGenJS Presentation</dc:subject>
  <dc:creator>PptxGenJS</dc:creator>
  <cp:lastModifiedBy>PptxGenJS</cp:lastModifiedBy>
  <cp:revision>1</cp:revision>
  <dcterms:created xsi:type="dcterms:W3CDTF">2026-06-10T00:10:11Z</dcterms:created>
  <dcterms:modified xsi:type="dcterms:W3CDTF">2026-06-10T00:10:11Z</dcterms:modified>
</cp:coreProperties>
</file>