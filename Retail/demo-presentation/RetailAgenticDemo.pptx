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  <p:sldMasterId id="2147483686" r:id="rId2"/>
  </p:sldMasterIdLst>
  <p:notesMasterIdLst>
    <p:notesMasterId r:id="rId7"/>
  </p:notesMasterIdLst>
  <p:sldIdLst>
    <p:sldId id="275" r:id="rId3"/>
    <p:sldId id="276" r:id="rId4"/>
    <p:sldId id="277" r:id="rId5"/>
    <p:sldId id="278" r:id="rId6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eabe922580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4" name="Google Shape;734;g3eabe922580_0_17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g3eabe922580_0_17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eabe922580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3" name="Google Shape;743;g3eabe922580_0_3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g3eabe922580_0_3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eabe922580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3" name="Google Shape;783;g3eabe922580_0_5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g3eabe922580_0_5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eabe922580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8" name="Google Shape;848;g3eabe922580_0_12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g3eabe922580_0_12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ctrTitle"/>
          </p:nvPr>
        </p:nvSpPr>
        <p:spPr>
          <a:xfrm>
            <a:off x="1072825" y="2003900"/>
            <a:ext cx="73218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cxnSp>
        <p:nvCxnSpPr>
          <p:cNvPr id="52" name="Google Shape;52;p13"/>
          <p:cNvCxnSpPr/>
          <p:nvPr/>
        </p:nvCxnSpPr>
        <p:spPr>
          <a:xfrm>
            <a:off x="-6025" y="3676512"/>
            <a:ext cx="9162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3" name="Google Shape;5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17950" y="794325"/>
            <a:ext cx="784800" cy="3082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" name="Google Shape;54;p13"/>
          <p:cNvCxnSpPr/>
          <p:nvPr/>
        </p:nvCxnSpPr>
        <p:spPr>
          <a:xfrm>
            <a:off x="-31000" y="69750"/>
            <a:ext cx="681900" cy="0"/>
          </a:xfrm>
          <a:prstGeom prst="straightConnector1">
            <a:avLst/>
          </a:prstGeom>
          <a:noFill/>
          <a:ln w="152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26475" y="3693550"/>
            <a:ext cx="4197000" cy="22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3"/>
                </a:solidFill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2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2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2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2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2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2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200"/>
              </a:spcBef>
              <a:spcAft>
                <a:spcPts val="12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1141900" y="3403350"/>
            <a:ext cx="546300" cy="546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 rot="5400000">
            <a:off x="1335133" y="3578701"/>
            <a:ext cx="226200" cy="1956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A32"/>
        </a:solidFill>
        <a:effectLst/>
      </p:bgPr>
    </p:bg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60"/>
          <p:cNvSpPr/>
          <p:nvPr/>
        </p:nvSpPr>
        <p:spPr>
          <a:xfrm>
            <a:off x="320040" y="201168"/>
            <a:ext cx="1371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WSO2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60"/>
          <p:cNvSpPr/>
          <p:nvPr/>
        </p:nvSpPr>
        <p:spPr>
          <a:xfrm>
            <a:off x="320040" y="530352"/>
            <a:ext cx="822900" cy="366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60"/>
          <p:cNvSpPr/>
          <p:nvPr/>
        </p:nvSpPr>
        <p:spPr>
          <a:xfrm>
            <a:off x="0" y="2084832"/>
            <a:ext cx="91440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 Black"/>
              <a:buNone/>
            </a:pPr>
            <a:r>
              <a:rPr lang="en" sz="3600" b="1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Demo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60"/>
          <p:cNvSpPr/>
          <p:nvPr/>
        </p:nvSpPr>
        <p:spPr>
          <a:xfrm>
            <a:off x="0" y="2798064"/>
            <a:ext cx="91440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AAABB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9AAABB"/>
                </a:solidFill>
                <a:latin typeface="Arial"/>
                <a:ea typeface="Arial"/>
                <a:cs typeface="Arial"/>
                <a:sym typeface="Arial"/>
              </a:rPr>
              <a:t>4 Specialised AI Agents working in concert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1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61"/>
          <p:cNvSpPr/>
          <p:nvPr/>
        </p:nvSpPr>
        <p:spPr>
          <a:xfrm>
            <a:off x="411480" y="164592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533"/>
              </a:buClr>
              <a:buSzPts val="2800"/>
              <a:buFont typeface="Arial"/>
              <a:buNone/>
            </a:pPr>
            <a:r>
              <a:rPr lang="en" sz="2800" b="1">
                <a:solidFill>
                  <a:srgbClr val="1C2533"/>
                </a:solidFill>
              </a:rPr>
              <a:t>Demo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61"/>
          <p:cNvSpPr/>
          <p:nvPr/>
        </p:nvSpPr>
        <p:spPr>
          <a:xfrm>
            <a:off x="411480" y="658368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29A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8A929A"/>
                </a:solidFill>
                <a:latin typeface="Arial"/>
                <a:ea typeface="Arial"/>
                <a:cs typeface="Arial"/>
                <a:sym typeface="Arial"/>
              </a:rPr>
              <a:t>4 autonomous</a:t>
            </a:r>
            <a:r>
              <a:rPr lang="en" sz="1300">
                <a:solidFill>
                  <a:srgbClr val="8A929A"/>
                </a:solidFill>
              </a:rPr>
              <a:t> </a:t>
            </a:r>
            <a:r>
              <a:rPr lang="en" sz="1300" b="0" i="0" u="none" strike="noStrike" cap="none">
                <a:solidFill>
                  <a:srgbClr val="8A929A"/>
                </a:solidFill>
                <a:latin typeface="Arial"/>
                <a:ea typeface="Arial"/>
                <a:cs typeface="Arial"/>
                <a:sym typeface="Arial"/>
              </a:rPr>
              <a:t>agents orchestrated via WSO2 Agent Manager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61"/>
          <p:cNvSpPr/>
          <p:nvPr/>
        </p:nvSpPr>
        <p:spPr>
          <a:xfrm>
            <a:off x="274320" y="1005840"/>
            <a:ext cx="8595300" cy="274200"/>
          </a:xfrm>
          <a:prstGeom prst="rect">
            <a:avLst/>
          </a:prstGeom>
          <a:solidFill>
            <a:srgbClr val="EEF2F6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61"/>
          <p:cNvSpPr/>
          <p:nvPr/>
        </p:nvSpPr>
        <p:spPr>
          <a:xfrm>
            <a:off x="274320" y="1005840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929A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8A929A"/>
                </a:solidFill>
                <a:latin typeface="Arial"/>
                <a:ea typeface="Arial"/>
                <a:cs typeface="Arial"/>
                <a:sym typeface="Arial"/>
              </a:rPr>
              <a:t>WSO2 AGENT MANAGER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61"/>
          <p:cNvSpPr/>
          <p:nvPr/>
        </p:nvSpPr>
        <p:spPr>
          <a:xfrm>
            <a:off x="365760" y="1389888"/>
            <a:ext cx="1902000" cy="2011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61"/>
          <p:cNvSpPr/>
          <p:nvPr/>
        </p:nvSpPr>
        <p:spPr>
          <a:xfrm>
            <a:off x="365760" y="1389888"/>
            <a:ext cx="1902000" cy="2925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61"/>
          <p:cNvSpPr/>
          <p:nvPr/>
        </p:nvSpPr>
        <p:spPr>
          <a:xfrm>
            <a:off x="457200" y="1737360"/>
            <a:ext cx="17190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533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1C2533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533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1C2533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1"/>
          <p:cNvSpPr/>
          <p:nvPr/>
        </p:nvSpPr>
        <p:spPr>
          <a:xfrm>
            <a:off x="457200" y="2377440"/>
            <a:ext cx="17190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929A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8A929A"/>
                </a:solidFill>
                <a:latin typeface="Arial"/>
                <a:ea typeface="Arial"/>
                <a:cs typeface="Arial"/>
                <a:sym typeface="Arial"/>
              </a:rPr>
              <a:t>Browse · Order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929A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8A929A"/>
                </a:solidFill>
                <a:latin typeface="Arial"/>
                <a:ea typeface="Arial"/>
                <a:cs typeface="Arial"/>
                <a:sym typeface="Arial"/>
              </a:rPr>
              <a:t>Track · Profile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61"/>
          <p:cNvSpPr/>
          <p:nvPr/>
        </p:nvSpPr>
        <p:spPr>
          <a:xfrm>
            <a:off x="585216" y="3163824"/>
            <a:ext cx="1463100" cy="2013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61"/>
          <p:cNvSpPr/>
          <p:nvPr/>
        </p:nvSpPr>
        <p:spPr>
          <a:xfrm>
            <a:off x="585216" y="3163824"/>
            <a:ext cx="1463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Gemini via AI Gateway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61"/>
          <p:cNvSpPr/>
          <p:nvPr/>
        </p:nvSpPr>
        <p:spPr>
          <a:xfrm>
            <a:off x="2267712" y="2304288"/>
            <a:ext cx="219600" cy="366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61"/>
          <p:cNvSpPr/>
          <p:nvPr/>
        </p:nvSpPr>
        <p:spPr>
          <a:xfrm>
            <a:off x="2375054" y="2218413"/>
            <a:ext cx="128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300"/>
              </a:buClr>
              <a:buSzPts val="900"/>
              <a:buFont typeface="Calibri"/>
              <a:buNone/>
            </a:pPr>
            <a:r>
              <a:rPr lang="en" sz="900" b="0" i="0" u="none" strike="noStrike" cap="none" dirty="0">
                <a:solidFill>
                  <a:srgbClr val="FF73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61"/>
          <p:cNvSpPr/>
          <p:nvPr/>
        </p:nvSpPr>
        <p:spPr>
          <a:xfrm>
            <a:off x="2487168" y="1389888"/>
            <a:ext cx="1902000" cy="2011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61"/>
          <p:cNvSpPr/>
          <p:nvPr/>
        </p:nvSpPr>
        <p:spPr>
          <a:xfrm>
            <a:off x="2487168" y="1389888"/>
            <a:ext cx="1902000" cy="292500"/>
          </a:xfrm>
          <a:prstGeom prst="rect">
            <a:avLst/>
          </a:prstGeom>
          <a:solidFill>
            <a:srgbClr val="0A7CC7"/>
          </a:solidFill>
          <a:ln w="12700" cap="flat" cmpd="sng">
            <a:solidFill>
              <a:srgbClr val="0A7C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61"/>
          <p:cNvSpPr/>
          <p:nvPr/>
        </p:nvSpPr>
        <p:spPr>
          <a:xfrm>
            <a:off x="2578608" y="1737360"/>
            <a:ext cx="17190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533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1C2533"/>
                </a:solidFill>
                <a:latin typeface="Arial"/>
                <a:ea typeface="Arial"/>
                <a:cs typeface="Arial"/>
                <a:sym typeface="Arial"/>
              </a:rPr>
              <a:t>Inventory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533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1C2533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61"/>
          <p:cNvSpPr/>
          <p:nvPr/>
        </p:nvSpPr>
        <p:spPr>
          <a:xfrm>
            <a:off x="2578608" y="2377440"/>
            <a:ext cx="17190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929A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8A929A"/>
                </a:solidFill>
                <a:latin typeface="Arial"/>
                <a:ea typeface="Arial"/>
                <a:cs typeface="Arial"/>
                <a:sym typeface="Arial"/>
              </a:rPr>
              <a:t>Stock check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929A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8A929A"/>
                </a:solidFill>
                <a:latin typeface="Arial"/>
                <a:ea typeface="Arial"/>
                <a:cs typeface="Arial"/>
                <a:sym typeface="Arial"/>
              </a:rPr>
              <a:t>Reserve · Reorder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61"/>
          <p:cNvSpPr/>
          <p:nvPr/>
        </p:nvSpPr>
        <p:spPr>
          <a:xfrm>
            <a:off x="2706624" y="3163824"/>
            <a:ext cx="1463100" cy="2013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61"/>
          <p:cNvSpPr/>
          <p:nvPr/>
        </p:nvSpPr>
        <p:spPr>
          <a:xfrm>
            <a:off x="2706624" y="3163824"/>
            <a:ext cx="1463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Gemini via AI Gateway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61"/>
          <p:cNvSpPr/>
          <p:nvPr/>
        </p:nvSpPr>
        <p:spPr>
          <a:xfrm>
            <a:off x="4389120" y="2304288"/>
            <a:ext cx="219600" cy="366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61"/>
          <p:cNvSpPr/>
          <p:nvPr/>
        </p:nvSpPr>
        <p:spPr>
          <a:xfrm>
            <a:off x="4496462" y="2210462"/>
            <a:ext cx="128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300"/>
              </a:buClr>
              <a:buSzPts val="900"/>
              <a:buFont typeface="Calibri"/>
              <a:buNone/>
            </a:pPr>
            <a:r>
              <a:rPr lang="en" sz="900" b="0" i="0" u="none" strike="noStrike" cap="none" dirty="0">
                <a:solidFill>
                  <a:srgbClr val="FF73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61"/>
          <p:cNvSpPr/>
          <p:nvPr/>
        </p:nvSpPr>
        <p:spPr>
          <a:xfrm>
            <a:off x="4608576" y="1389888"/>
            <a:ext cx="1902000" cy="2011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61"/>
          <p:cNvSpPr/>
          <p:nvPr/>
        </p:nvSpPr>
        <p:spPr>
          <a:xfrm>
            <a:off x="4608576" y="1389888"/>
            <a:ext cx="1902000" cy="292500"/>
          </a:xfrm>
          <a:prstGeom prst="rect">
            <a:avLst/>
          </a:prstGeom>
          <a:solidFill>
            <a:srgbClr val="00967D"/>
          </a:solidFill>
          <a:ln w="12700" cap="flat" cmpd="sng">
            <a:solidFill>
              <a:srgbClr val="009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61"/>
          <p:cNvSpPr/>
          <p:nvPr/>
        </p:nvSpPr>
        <p:spPr>
          <a:xfrm>
            <a:off x="4700016" y="1737360"/>
            <a:ext cx="17190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533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1C2533"/>
                </a:solidFill>
                <a:latin typeface="Arial"/>
                <a:ea typeface="Arial"/>
                <a:cs typeface="Arial"/>
                <a:sym typeface="Arial"/>
              </a:rPr>
              <a:t>Warehouse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533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1C2533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61"/>
          <p:cNvSpPr/>
          <p:nvPr/>
        </p:nvSpPr>
        <p:spPr>
          <a:xfrm>
            <a:off x="4700016" y="2377440"/>
            <a:ext cx="17190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929A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8A929A"/>
                </a:solidFill>
                <a:latin typeface="Arial"/>
                <a:ea typeface="Arial"/>
                <a:cs typeface="Arial"/>
                <a:sym typeface="Arial"/>
              </a:rPr>
              <a:t>Fulfilment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929A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8A929A"/>
                </a:solidFill>
                <a:latin typeface="Arial"/>
                <a:ea typeface="Arial"/>
                <a:cs typeface="Arial"/>
                <a:sym typeface="Arial"/>
              </a:rPr>
              <a:t>Pick &amp; dispatch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61"/>
          <p:cNvSpPr/>
          <p:nvPr/>
        </p:nvSpPr>
        <p:spPr>
          <a:xfrm>
            <a:off x="4828032" y="3163824"/>
            <a:ext cx="1463100" cy="2013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61"/>
          <p:cNvSpPr/>
          <p:nvPr/>
        </p:nvSpPr>
        <p:spPr>
          <a:xfrm>
            <a:off x="4828032" y="3163824"/>
            <a:ext cx="1463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Gemini via AI Gateway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61"/>
          <p:cNvSpPr/>
          <p:nvPr/>
        </p:nvSpPr>
        <p:spPr>
          <a:xfrm>
            <a:off x="6510528" y="2304288"/>
            <a:ext cx="219600" cy="366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61"/>
          <p:cNvSpPr/>
          <p:nvPr/>
        </p:nvSpPr>
        <p:spPr>
          <a:xfrm>
            <a:off x="6617870" y="2210462"/>
            <a:ext cx="128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300"/>
              </a:buClr>
              <a:buSzPts val="900"/>
              <a:buFont typeface="Calibri"/>
              <a:buNone/>
            </a:pPr>
            <a:r>
              <a:rPr lang="en" sz="900" b="0" i="0" u="none" strike="noStrike" cap="none" dirty="0">
                <a:solidFill>
                  <a:srgbClr val="FF73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61"/>
          <p:cNvSpPr/>
          <p:nvPr/>
        </p:nvSpPr>
        <p:spPr>
          <a:xfrm>
            <a:off x="6729984" y="1389888"/>
            <a:ext cx="1902000" cy="2011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61"/>
          <p:cNvSpPr/>
          <p:nvPr/>
        </p:nvSpPr>
        <p:spPr>
          <a:xfrm>
            <a:off x="6729984" y="1389888"/>
            <a:ext cx="1902000" cy="292500"/>
          </a:xfrm>
          <a:prstGeom prst="rect">
            <a:avLst/>
          </a:prstGeom>
          <a:solidFill>
            <a:srgbClr val="7B5EA7"/>
          </a:solidFill>
          <a:ln w="12700" cap="flat" cmpd="sng">
            <a:solidFill>
              <a:srgbClr val="7B5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61"/>
          <p:cNvSpPr/>
          <p:nvPr/>
        </p:nvSpPr>
        <p:spPr>
          <a:xfrm>
            <a:off x="6821424" y="1737360"/>
            <a:ext cx="17190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533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1C2533"/>
                </a:solidFill>
                <a:latin typeface="Arial"/>
                <a:ea typeface="Arial"/>
                <a:cs typeface="Arial"/>
                <a:sym typeface="Arial"/>
              </a:rPr>
              <a:t>Supplier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2533"/>
              </a:buClr>
              <a:buSzPts val="1300"/>
              <a:buFont typeface="Arial"/>
              <a:buNone/>
            </a:pPr>
            <a:r>
              <a:rPr lang="en" sz="1300" b="1" i="0" u="none" strike="noStrike" cap="none">
                <a:solidFill>
                  <a:srgbClr val="1C2533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61"/>
          <p:cNvSpPr/>
          <p:nvPr/>
        </p:nvSpPr>
        <p:spPr>
          <a:xfrm>
            <a:off x="6821424" y="2377440"/>
            <a:ext cx="17190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929A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8A929A"/>
                </a:solidFill>
                <a:latin typeface="Arial"/>
                <a:ea typeface="Arial"/>
                <a:cs typeface="Arial"/>
                <a:sym typeface="Arial"/>
              </a:rPr>
              <a:t>Purchase orders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A929A"/>
              </a:buClr>
              <a:buSzPts val="1000"/>
              <a:buFont typeface="Arial"/>
              <a:buNone/>
            </a:pPr>
            <a:r>
              <a:rPr lang="en" sz="1000" b="0" i="0" u="none" strike="noStrike" cap="none">
                <a:solidFill>
                  <a:srgbClr val="8A929A"/>
                </a:solidFill>
                <a:latin typeface="Arial"/>
                <a:ea typeface="Arial"/>
                <a:cs typeface="Arial"/>
                <a:sym typeface="Arial"/>
              </a:rPr>
              <a:t>Replenishment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61"/>
          <p:cNvSpPr/>
          <p:nvPr/>
        </p:nvSpPr>
        <p:spPr>
          <a:xfrm>
            <a:off x="6949440" y="3163824"/>
            <a:ext cx="1463100" cy="2013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61"/>
          <p:cNvSpPr/>
          <p:nvPr/>
        </p:nvSpPr>
        <p:spPr>
          <a:xfrm>
            <a:off x="6949440" y="3163824"/>
            <a:ext cx="14631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Gemini via AI Gateway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2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62"/>
          <p:cNvSpPr/>
          <p:nvPr/>
        </p:nvSpPr>
        <p:spPr>
          <a:xfrm>
            <a:off x="411480" y="164592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533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1C2533"/>
                </a:solidFill>
                <a:latin typeface="Arial"/>
                <a:ea typeface="Arial"/>
                <a:cs typeface="Arial"/>
                <a:sym typeface="Arial"/>
              </a:rPr>
              <a:t>Agent Communication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62"/>
          <p:cNvSpPr/>
          <p:nvPr/>
        </p:nvSpPr>
        <p:spPr>
          <a:xfrm>
            <a:off x="411480" y="658368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29A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8A929A"/>
                </a:solidFill>
                <a:latin typeface="Arial"/>
                <a:ea typeface="Arial"/>
                <a:cs typeface="Arial"/>
                <a:sym typeface="Arial"/>
              </a:rPr>
              <a:t>Every arrow is a traced tool call visible as a span in WSO2 Agent Manager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62"/>
          <p:cNvSpPr/>
          <p:nvPr/>
        </p:nvSpPr>
        <p:spPr>
          <a:xfrm>
            <a:off x="256032" y="987552"/>
            <a:ext cx="1755600" cy="3090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62"/>
          <p:cNvSpPr/>
          <p:nvPr/>
        </p:nvSpPr>
        <p:spPr>
          <a:xfrm>
            <a:off x="256032" y="987552"/>
            <a:ext cx="1755600" cy="3291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62"/>
          <p:cNvSpPr/>
          <p:nvPr/>
        </p:nvSpPr>
        <p:spPr>
          <a:xfrm>
            <a:off x="256032" y="987552"/>
            <a:ext cx="17556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Customer Agent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62"/>
          <p:cNvSpPr/>
          <p:nvPr/>
        </p:nvSpPr>
        <p:spPr>
          <a:xfrm>
            <a:off x="384048" y="1499616"/>
            <a:ext cx="63900" cy="639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62"/>
          <p:cNvSpPr/>
          <p:nvPr/>
        </p:nvSpPr>
        <p:spPr>
          <a:xfrm>
            <a:off x="493776" y="1408176"/>
            <a:ext cx="146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85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browse_products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62"/>
          <p:cNvSpPr/>
          <p:nvPr/>
        </p:nvSpPr>
        <p:spPr>
          <a:xfrm>
            <a:off x="384048" y="1828800"/>
            <a:ext cx="63900" cy="639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62"/>
          <p:cNvSpPr/>
          <p:nvPr/>
        </p:nvSpPr>
        <p:spPr>
          <a:xfrm>
            <a:off x="493776" y="1737360"/>
            <a:ext cx="146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85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check_stock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62"/>
          <p:cNvSpPr/>
          <p:nvPr/>
        </p:nvSpPr>
        <p:spPr>
          <a:xfrm>
            <a:off x="384048" y="2157984"/>
            <a:ext cx="63900" cy="639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62"/>
          <p:cNvSpPr/>
          <p:nvPr/>
        </p:nvSpPr>
        <p:spPr>
          <a:xfrm>
            <a:off x="493776" y="2066544"/>
            <a:ext cx="146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85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place_order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62"/>
          <p:cNvSpPr/>
          <p:nvPr/>
        </p:nvSpPr>
        <p:spPr>
          <a:xfrm>
            <a:off x="384048" y="2487168"/>
            <a:ext cx="63900" cy="639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62"/>
          <p:cNvSpPr/>
          <p:nvPr/>
        </p:nvSpPr>
        <p:spPr>
          <a:xfrm>
            <a:off x="493776" y="2395728"/>
            <a:ext cx="146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85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track_order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62"/>
          <p:cNvSpPr/>
          <p:nvPr/>
        </p:nvSpPr>
        <p:spPr>
          <a:xfrm>
            <a:off x="384048" y="2816352"/>
            <a:ext cx="63900" cy="639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62"/>
          <p:cNvSpPr/>
          <p:nvPr/>
        </p:nvSpPr>
        <p:spPr>
          <a:xfrm>
            <a:off x="493776" y="2724912"/>
            <a:ext cx="146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85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notify_inventory_agent →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62"/>
          <p:cNvSpPr/>
          <p:nvPr/>
        </p:nvSpPr>
        <p:spPr>
          <a:xfrm>
            <a:off x="384048" y="3145536"/>
            <a:ext cx="63900" cy="639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62"/>
          <p:cNvSpPr/>
          <p:nvPr/>
        </p:nvSpPr>
        <p:spPr>
          <a:xfrm>
            <a:off x="493776" y="3054096"/>
            <a:ext cx="1463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85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notify_warehouse_agent →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62"/>
          <p:cNvSpPr/>
          <p:nvPr/>
        </p:nvSpPr>
        <p:spPr>
          <a:xfrm>
            <a:off x="3547872" y="987552"/>
            <a:ext cx="1993500" cy="141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62"/>
          <p:cNvSpPr/>
          <p:nvPr/>
        </p:nvSpPr>
        <p:spPr>
          <a:xfrm>
            <a:off x="3547872" y="987552"/>
            <a:ext cx="1993500" cy="329100"/>
          </a:xfrm>
          <a:prstGeom prst="rect">
            <a:avLst/>
          </a:prstGeom>
          <a:solidFill>
            <a:srgbClr val="0A7CC7"/>
          </a:solidFill>
          <a:ln w="12700" cap="flat" cmpd="sng">
            <a:solidFill>
              <a:srgbClr val="0A7C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62"/>
          <p:cNvSpPr/>
          <p:nvPr/>
        </p:nvSpPr>
        <p:spPr>
          <a:xfrm>
            <a:off x="3547872" y="987552"/>
            <a:ext cx="199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Inventory Agent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62"/>
          <p:cNvSpPr/>
          <p:nvPr/>
        </p:nvSpPr>
        <p:spPr>
          <a:xfrm>
            <a:off x="3675888" y="1499616"/>
            <a:ext cx="63900" cy="63900"/>
          </a:xfrm>
          <a:prstGeom prst="rect">
            <a:avLst/>
          </a:prstGeom>
          <a:solidFill>
            <a:srgbClr val="0A7CC7"/>
          </a:solidFill>
          <a:ln w="12700" cap="flat" cmpd="sng">
            <a:solidFill>
              <a:srgbClr val="0A7C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62"/>
          <p:cNvSpPr/>
          <p:nvPr/>
        </p:nvSpPr>
        <p:spPr>
          <a:xfrm>
            <a:off x="3785616" y="1408176"/>
            <a:ext cx="1700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85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reserve_stock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62"/>
          <p:cNvSpPr/>
          <p:nvPr/>
        </p:nvSpPr>
        <p:spPr>
          <a:xfrm>
            <a:off x="3675888" y="1828800"/>
            <a:ext cx="63900" cy="63900"/>
          </a:xfrm>
          <a:prstGeom prst="rect">
            <a:avLst/>
          </a:prstGeom>
          <a:solidFill>
            <a:srgbClr val="0A7CC7"/>
          </a:solidFill>
          <a:ln w="12700" cap="flat" cmpd="sng">
            <a:solidFill>
              <a:srgbClr val="0A7C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62"/>
          <p:cNvSpPr/>
          <p:nvPr/>
        </p:nvSpPr>
        <p:spPr>
          <a:xfrm>
            <a:off x="3785616" y="1737360"/>
            <a:ext cx="1700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85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check_inventory_levels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62"/>
          <p:cNvSpPr/>
          <p:nvPr/>
        </p:nvSpPr>
        <p:spPr>
          <a:xfrm>
            <a:off x="3675888" y="2157984"/>
            <a:ext cx="63900" cy="63900"/>
          </a:xfrm>
          <a:prstGeom prst="rect">
            <a:avLst/>
          </a:prstGeom>
          <a:solidFill>
            <a:srgbClr val="0A7CC7"/>
          </a:solidFill>
          <a:ln w="12700" cap="flat" cmpd="sng">
            <a:solidFill>
              <a:srgbClr val="0A7C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62"/>
          <p:cNvSpPr/>
          <p:nvPr/>
        </p:nvSpPr>
        <p:spPr>
          <a:xfrm>
            <a:off x="3785616" y="2066544"/>
            <a:ext cx="1700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85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release_reservation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62"/>
          <p:cNvSpPr/>
          <p:nvPr/>
        </p:nvSpPr>
        <p:spPr>
          <a:xfrm>
            <a:off x="3547872" y="2578608"/>
            <a:ext cx="1993500" cy="141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62"/>
          <p:cNvSpPr/>
          <p:nvPr/>
        </p:nvSpPr>
        <p:spPr>
          <a:xfrm>
            <a:off x="3547872" y="2578608"/>
            <a:ext cx="1993500" cy="329100"/>
          </a:xfrm>
          <a:prstGeom prst="rect">
            <a:avLst/>
          </a:prstGeom>
          <a:solidFill>
            <a:srgbClr val="00967D"/>
          </a:solidFill>
          <a:ln w="12700" cap="flat" cmpd="sng">
            <a:solidFill>
              <a:srgbClr val="009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62"/>
          <p:cNvSpPr/>
          <p:nvPr/>
        </p:nvSpPr>
        <p:spPr>
          <a:xfrm>
            <a:off x="3547872" y="2578608"/>
            <a:ext cx="19935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Warehouse Agent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62"/>
          <p:cNvSpPr/>
          <p:nvPr/>
        </p:nvSpPr>
        <p:spPr>
          <a:xfrm>
            <a:off x="3675888" y="3090672"/>
            <a:ext cx="63900" cy="63900"/>
          </a:xfrm>
          <a:prstGeom prst="rect">
            <a:avLst/>
          </a:prstGeom>
          <a:solidFill>
            <a:srgbClr val="00967D"/>
          </a:solidFill>
          <a:ln w="12700" cap="flat" cmpd="sng">
            <a:solidFill>
              <a:srgbClr val="009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62"/>
          <p:cNvSpPr/>
          <p:nvPr/>
        </p:nvSpPr>
        <p:spPr>
          <a:xfrm>
            <a:off x="3785616" y="2999232"/>
            <a:ext cx="1700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85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create_fulfilment_task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62"/>
          <p:cNvSpPr/>
          <p:nvPr/>
        </p:nvSpPr>
        <p:spPr>
          <a:xfrm>
            <a:off x="3675888" y="3419856"/>
            <a:ext cx="63900" cy="63900"/>
          </a:xfrm>
          <a:prstGeom prst="rect">
            <a:avLst/>
          </a:prstGeom>
          <a:solidFill>
            <a:srgbClr val="00967D"/>
          </a:solidFill>
          <a:ln w="12700" cap="flat" cmpd="sng">
            <a:solidFill>
              <a:srgbClr val="009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62"/>
          <p:cNvSpPr/>
          <p:nvPr/>
        </p:nvSpPr>
        <p:spPr>
          <a:xfrm>
            <a:off x="3785616" y="3328416"/>
            <a:ext cx="1700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85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assign_picker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62"/>
          <p:cNvSpPr/>
          <p:nvPr/>
        </p:nvSpPr>
        <p:spPr>
          <a:xfrm>
            <a:off x="3675888" y="3749040"/>
            <a:ext cx="63900" cy="63900"/>
          </a:xfrm>
          <a:prstGeom prst="rect">
            <a:avLst/>
          </a:prstGeom>
          <a:solidFill>
            <a:srgbClr val="00967D"/>
          </a:solidFill>
          <a:ln w="12700" cap="flat" cmpd="sng">
            <a:solidFill>
              <a:srgbClr val="009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62"/>
          <p:cNvSpPr/>
          <p:nvPr/>
        </p:nvSpPr>
        <p:spPr>
          <a:xfrm>
            <a:off x="3785616" y="3657600"/>
            <a:ext cx="1700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85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update_dispatch_status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62"/>
          <p:cNvSpPr/>
          <p:nvPr/>
        </p:nvSpPr>
        <p:spPr>
          <a:xfrm>
            <a:off x="6931152" y="987552"/>
            <a:ext cx="1920300" cy="141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62"/>
          <p:cNvSpPr/>
          <p:nvPr/>
        </p:nvSpPr>
        <p:spPr>
          <a:xfrm>
            <a:off x="6931152" y="987552"/>
            <a:ext cx="1920300" cy="329100"/>
          </a:xfrm>
          <a:prstGeom prst="rect">
            <a:avLst/>
          </a:prstGeom>
          <a:solidFill>
            <a:srgbClr val="7B5EA7"/>
          </a:solidFill>
          <a:ln w="12700" cap="flat" cmpd="sng">
            <a:solidFill>
              <a:srgbClr val="7B5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62"/>
          <p:cNvSpPr/>
          <p:nvPr/>
        </p:nvSpPr>
        <p:spPr>
          <a:xfrm>
            <a:off x="6931152" y="987552"/>
            <a:ext cx="19203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n" sz="11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Supplier Agent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62"/>
          <p:cNvSpPr/>
          <p:nvPr/>
        </p:nvSpPr>
        <p:spPr>
          <a:xfrm>
            <a:off x="7059168" y="1499616"/>
            <a:ext cx="63900" cy="63900"/>
          </a:xfrm>
          <a:prstGeom prst="rect">
            <a:avLst/>
          </a:prstGeom>
          <a:solidFill>
            <a:srgbClr val="7B5EA7"/>
          </a:solidFill>
          <a:ln w="12700" cap="flat" cmpd="sng">
            <a:solidFill>
              <a:srgbClr val="7B5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62"/>
          <p:cNvSpPr/>
          <p:nvPr/>
        </p:nvSpPr>
        <p:spPr>
          <a:xfrm>
            <a:off x="7168896" y="1408176"/>
            <a:ext cx="162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85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raise_purchase_order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62"/>
          <p:cNvSpPr/>
          <p:nvPr/>
        </p:nvSpPr>
        <p:spPr>
          <a:xfrm>
            <a:off x="7059168" y="1828800"/>
            <a:ext cx="63900" cy="63900"/>
          </a:xfrm>
          <a:prstGeom prst="rect">
            <a:avLst/>
          </a:prstGeom>
          <a:solidFill>
            <a:srgbClr val="7B5EA7"/>
          </a:solidFill>
          <a:ln w="12700" cap="flat" cmpd="sng">
            <a:solidFill>
              <a:srgbClr val="7B5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62"/>
          <p:cNvSpPr/>
          <p:nvPr/>
        </p:nvSpPr>
        <p:spPr>
          <a:xfrm>
            <a:off x="7168896" y="1737360"/>
            <a:ext cx="1627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858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get_supplier_info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62"/>
          <p:cNvSpPr/>
          <p:nvPr/>
        </p:nvSpPr>
        <p:spPr>
          <a:xfrm>
            <a:off x="2011680" y="1677924"/>
            <a:ext cx="1398900" cy="36600"/>
          </a:xfrm>
          <a:prstGeom prst="rect">
            <a:avLst/>
          </a:prstGeom>
          <a:solidFill>
            <a:srgbClr val="0A7CC7"/>
          </a:solidFill>
          <a:ln w="12700" cap="flat" cmpd="sng">
            <a:solidFill>
              <a:srgbClr val="0A7C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62"/>
          <p:cNvSpPr/>
          <p:nvPr/>
        </p:nvSpPr>
        <p:spPr>
          <a:xfrm>
            <a:off x="3401568" y="1568196"/>
            <a:ext cx="146400" cy="219600"/>
          </a:xfrm>
          <a:prstGeom prst="rect">
            <a:avLst/>
          </a:prstGeom>
          <a:solidFill>
            <a:srgbClr val="0A7CC7"/>
          </a:solidFill>
          <a:ln w="12700" cap="flat" cmpd="sng">
            <a:solidFill>
              <a:srgbClr val="0A7C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62"/>
          <p:cNvSpPr/>
          <p:nvPr/>
        </p:nvSpPr>
        <p:spPr>
          <a:xfrm>
            <a:off x="3383280" y="1540764"/>
            <a:ext cx="183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62"/>
          <p:cNvSpPr/>
          <p:nvPr/>
        </p:nvSpPr>
        <p:spPr>
          <a:xfrm>
            <a:off x="2011680" y="1412748"/>
            <a:ext cx="1536300" cy="219600"/>
          </a:xfrm>
          <a:prstGeom prst="rect">
            <a:avLst/>
          </a:prstGeom>
          <a:solidFill>
            <a:srgbClr val="EDF3FA"/>
          </a:solidFill>
          <a:ln w="9525" cap="flat" cmpd="sng">
            <a:solidFill>
              <a:srgbClr val="0A7C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62"/>
          <p:cNvSpPr/>
          <p:nvPr/>
        </p:nvSpPr>
        <p:spPr>
          <a:xfrm>
            <a:off x="2011680" y="1412748"/>
            <a:ext cx="15363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7CC7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0A7CC7"/>
                </a:solidFill>
                <a:latin typeface="Arial"/>
                <a:ea typeface="Arial"/>
                <a:cs typeface="Arial"/>
                <a:sym typeface="Arial"/>
              </a:rPr>
              <a:t>tool.notify_inventory_agent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62"/>
          <p:cNvSpPr/>
          <p:nvPr/>
        </p:nvSpPr>
        <p:spPr>
          <a:xfrm>
            <a:off x="2011680" y="3268980"/>
            <a:ext cx="1398900" cy="36600"/>
          </a:xfrm>
          <a:prstGeom prst="rect">
            <a:avLst/>
          </a:prstGeom>
          <a:solidFill>
            <a:srgbClr val="00967D"/>
          </a:solidFill>
          <a:ln w="12700" cap="flat" cmpd="sng">
            <a:solidFill>
              <a:srgbClr val="009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62"/>
          <p:cNvSpPr/>
          <p:nvPr/>
        </p:nvSpPr>
        <p:spPr>
          <a:xfrm>
            <a:off x="3401568" y="3159252"/>
            <a:ext cx="146400" cy="219600"/>
          </a:xfrm>
          <a:prstGeom prst="rect">
            <a:avLst/>
          </a:prstGeom>
          <a:solidFill>
            <a:srgbClr val="00967D"/>
          </a:solidFill>
          <a:ln w="12700" cap="flat" cmpd="sng">
            <a:solidFill>
              <a:srgbClr val="009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62"/>
          <p:cNvSpPr/>
          <p:nvPr/>
        </p:nvSpPr>
        <p:spPr>
          <a:xfrm>
            <a:off x="3383280" y="3131820"/>
            <a:ext cx="183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62"/>
          <p:cNvSpPr/>
          <p:nvPr/>
        </p:nvSpPr>
        <p:spPr>
          <a:xfrm>
            <a:off x="2011680" y="3003804"/>
            <a:ext cx="1536300" cy="219600"/>
          </a:xfrm>
          <a:prstGeom prst="rect">
            <a:avLst/>
          </a:prstGeom>
          <a:solidFill>
            <a:srgbClr val="EDF3FA"/>
          </a:solidFill>
          <a:ln w="9525" cap="flat" cmpd="sng">
            <a:solidFill>
              <a:srgbClr val="009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62"/>
          <p:cNvSpPr/>
          <p:nvPr/>
        </p:nvSpPr>
        <p:spPr>
          <a:xfrm>
            <a:off x="2011680" y="3003804"/>
            <a:ext cx="15363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967D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00967D"/>
                </a:solidFill>
                <a:latin typeface="Arial"/>
                <a:ea typeface="Arial"/>
                <a:cs typeface="Arial"/>
                <a:sym typeface="Arial"/>
              </a:rPr>
              <a:t>tool.notify_warehouse_agent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62"/>
          <p:cNvSpPr/>
          <p:nvPr/>
        </p:nvSpPr>
        <p:spPr>
          <a:xfrm>
            <a:off x="5541264" y="1677924"/>
            <a:ext cx="1252800" cy="36600"/>
          </a:xfrm>
          <a:prstGeom prst="rect">
            <a:avLst/>
          </a:prstGeom>
          <a:solidFill>
            <a:srgbClr val="7B5EA7"/>
          </a:solidFill>
          <a:ln w="12700" cap="flat" cmpd="sng">
            <a:solidFill>
              <a:srgbClr val="7B5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62"/>
          <p:cNvSpPr/>
          <p:nvPr/>
        </p:nvSpPr>
        <p:spPr>
          <a:xfrm>
            <a:off x="6784848" y="1568196"/>
            <a:ext cx="146400" cy="219600"/>
          </a:xfrm>
          <a:prstGeom prst="rect">
            <a:avLst/>
          </a:prstGeom>
          <a:solidFill>
            <a:srgbClr val="7B5EA7"/>
          </a:solidFill>
          <a:ln w="12700" cap="flat" cmpd="sng">
            <a:solidFill>
              <a:srgbClr val="7B5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62"/>
          <p:cNvSpPr/>
          <p:nvPr/>
        </p:nvSpPr>
        <p:spPr>
          <a:xfrm>
            <a:off x="6766560" y="1540764"/>
            <a:ext cx="183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62"/>
          <p:cNvSpPr/>
          <p:nvPr/>
        </p:nvSpPr>
        <p:spPr>
          <a:xfrm>
            <a:off x="5541264" y="1412748"/>
            <a:ext cx="1389900" cy="219600"/>
          </a:xfrm>
          <a:prstGeom prst="rect">
            <a:avLst/>
          </a:prstGeom>
          <a:solidFill>
            <a:srgbClr val="EDF3FA"/>
          </a:solidFill>
          <a:ln w="9525" cap="flat" cmpd="sng">
            <a:solidFill>
              <a:srgbClr val="7B5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62"/>
          <p:cNvSpPr/>
          <p:nvPr/>
        </p:nvSpPr>
        <p:spPr>
          <a:xfrm>
            <a:off x="5541264" y="1412748"/>
            <a:ext cx="13899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B5EA7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7B5EA7"/>
                </a:solidFill>
                <a:latin typeface="Arial"/>
                <a:ea typeface="Arial"/>
                <a:cs typeface="Arial"/>
                <a:sym typeface="Arial"/>
              </a:rPr>
              <a:t>tool.notify_supplier_agent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6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63"/>
          <p:cNvSpPr/>
          <p:nvPr/>
        </p:nvSpPr>
        <p:spPr>
          <a:xfrm>
            <a:off x="411480" y="164592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533"/>
              </a:buClr>
              <a:buSzPts val="2800"/>
              <a:buFont typeface="Arial"/>
              <a:buNone/>
            </a:pPr>
            <a:r>
              <a:rPr lang="en" sz="2800" b="1" i="0" u="none" strike="noStrike" cap="none">
                <a:solidFill>
                  <a:srgbClr val="1C2533"/>
                </a:solidFill>
                <a:latin typeface="Arial"/>
                <a:ea typeface="Arial"/>
                <a:cs typeface="Arial"/>
                <a:sym typeface="Arial"/>
              </a:rPr>
              <a:t>Demo Walkthrough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63"/>
          <p:cNvSpPr/>
          <p:nvPr/>
        </p:nvSpPr>
        <p:spPr>
          <a:xfrm>
            <a:off x="411480" y="658368"/>
            <a:ext cx="8321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929A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8A929A"/>
                </a:solidFill>
                <a:latin typeface="Arial"/>
                <a:ea typeface="Arial"/>
                <a:cs typeface="Arial"/>
                <a:sym typeface="Arial"/>
              </a:rPr>
              <a:t>Placing an order triggers a chain of autonomous agent actions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63"/>
          <p:cNvSpPr/>
          <p:nvPr/>
        </p:nvSpPr>
        <p:spPr>
          <a:xfrm>
            <a:off x="347472" y="1051560"/>
            <a:ext cx="1956900" cy="3246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63"/>
          <p:cNvSpPr/>
          <p:nvPr/>
        </p:nvSpPr>
        <p:spPr>
          <a:xfrm>
            <a:off x="347472" y="1051560"/>
            <a:ext cx="1956900" cy="4116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63"/>
          <p:cNvSpPr/>
          <p:nvPr/>
        </p:nvSpPr>
        <p:spPr>
          <a:xfrm>
            <a:off x="347472" y="1051560"/>
            <a:ext cx="1956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63"/>
          <p:cNvSpPr/>
          <p:nvPr/>
        </p:nvSpPr>
        <p:spPr>
          <a:xfrm>
            <a:off x="457200" y="1527048"/>
            <a:ext cx="1737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533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1C2533"/>
                </a:solidFill>
                <a:latin typeface="Arial"/>
                <a:ea typeface="Arial"/>
                <a:cs typeface="Arial"/>
                <a:sym typeface="Arial"/>
              </a:rPr>
              <a:t>Customer places order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63"/>
          <p:cNvSpPr/>
          <p:nvPr/>
        </p:nvSpPr>
        <p:spPr>
          <a:xfrm>
            <a:off x="457200" y="2075688"/>
            <a:ext cx="1737300" cy="15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858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Customer Agent uses Gemini</a:t>
            </a:r>
            <a:r>
              <a:rPr lang="en" sz="1050">
                <a:solidFill>
                  <a:srgbClr val="3A4858"/>
                </a:solidFill>
              </a:rPr>
              <a:t> </a:t>
            </a:r>
            <a:r>
              <a:rPr lang="en" sz="105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to call place_order. Order confirmed &amp; stock deducted in real time.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63"/>
          <p:cNvSpPr/>
          <p:nvPr/>
        </p:nvSpPr>
        <p:spPr>
          <a:xfrm>
            <a:off x="438912" y="3657600"/>
            <a:ext cx="1773900" cy="2559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63"/>
          <p:cNvSpPr/>
          <p:nvPr/>
        </p:nvSpPr>
        <p:spPr>
          <a:xfrm>
            <a:off x="438912" y="3657600"/>
            <a:ext cx="1773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7300"/>
              </a:buClr>
              <a:buSzPts val="850"/>
              <a:buFont typeface="Arial"/>
              <a:buNone/>
            </a:pPr>
            <a:r>
              <a:rPr lang="en" sz="850" b="0" i="0" u="none" strike="noStrike" cap="none">
                <a:solidFill>
                  <a:srgbClr val="FF7300"/>
                </a:solidFill>
                <a:latin typeface="Arial"/>
                <a:ea typeface="Arial"/>
                <a:cs typeface="Arial"/>
                <a:sym typeface="Arial"/>
              </a:rPr>
              <a:t>tool.place_order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63"/>
          <p:cNvSpPr/>
          <p:nvPr/>
        </p:nvSpPr>
        <p:spPr>
          <a:xfrm>
            <a:off x="2304288" y="2057400"/>
            <a:ext cx="164700" cy="366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63"/>
          <p:cNvSpPr/>
          <p:nvPr/>
        </p:nvSpPr>
        <p:spPr>
          <a:xfrm>
            <a:off x="2380619" y="1970332"/>
            <a:ext cx="128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300"/>
              </a:buClr>
              <a:buSzPts val="900"/>
              <a:buFont typeface="Calibri"/>
              <a:buNone/>
            </a:pPr>
            <a:r>
              <a:rPr lang="en" sz="900" b="0" i="0" u="none" strike="noStrike" cap="none" dirty="0">
                <a:solidFill>
                  <a:srgbClr val="FF73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63"/>
          <p:cNvSpPr/>
          <p:nvPr/>
        </p:nvSpPr>
        <p:spPr>
          <a:xfrm>
            <a:off x="2505456" y="1051560"/>
            <a:ext cx="1956900" cy="3246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63"/>
          <p:cNvSpPr/>
          <p:nvPr/>
        </p:nvSpPr>
        <p:spPr>
          <a:xfrm>
            <a:off x="2505456" y="1051560"/>
            <a:ext cx="1956900" cy="411600"/>
          </a:xfrm>
          <a:prstGeom prst="rect">
            <a:avLst/>
          </a:prstGeom>
          <a:solidFill>
            <a:srgbClr val="0A7CC7"/>
          </a:solidFill>
          <a:ln w="12700" cap="flat" cmpd="sng">
            <a:solidFill>
              <a:srgbClr val="0A7C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63"/>
          <p:cNvSpPr/>
          <p:nvPr/>
        </p:nvSpPr>
        <p:spPr>
          <a:xfrm>
            <a:off x="2505456" y="1051560"/>
            <a:ext cx="1956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63"/>
          <p:cNvSpPr/>
          <p:nvPr/>
        </p:nvSpPr>
        <p:spPr>
          <a:xfrm>
            <a:off x="2615184" y="1527048"/>
            <a:ext cx="1737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533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1C2533"/>
                </a:solidFill>
                <a:latin typeface="Arial"/>
                <a:ea typeface="Arial"/>
                <a:cs typeface="Arial"/>
                <a:sym typeface="Arial"/>
              </a:rPr>
              <a:t>Inventory notified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63"/>
          <p:cNvSpPr/>
          <p:nvPr/>
        </p:nvSpPr>
        <p:spPr>
          <a:xfrm>
            <a:off x="2615184" y="2075688"/>
            <a:ext cx="1737300" cy="15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858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Customer Agent calls notify_inventory_agent as a traced tool call. Inventory Agent reserves stock.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63"/>
          <p:cNvSpPr/>
          <p:nvPr/>
        </p:nvSpPr>
        <p:spPr>
          <a:xfrm>
            <a:off x="2596896" y="3657600"/>
            <a:ext cx="1773900" cy="2559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63"/>
          <p:cNvSpPr/>
          <p:nvPr/>
        </p:nvSpPr>
        <p:spPr>
          <a:xfrm>
            <a:off x="2596896" y="3657600"/>
            <a:ext cx="1773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A7CC7"/>
              </a:buClr>
              <a:buSzPts val="850"/>
              <a:buFont typeface="Arial"/>
              <a:buNone/>
            </a:pPr>
            <a:r>
              <a:rPr lang="en" sz="850" b="0" i="0" u="none" strike="noStrike" cap="none">
                <a:solidFill>
                  <a:srgbClr val="0A7CC7"/>
                </a:solidFill>
                <a:latin typeface="Arial"/>
                <a:ea typeface="Arial"/>
                <a:cs typeface="Arial"/>
                <a:sym typeface="Arial"/>
              </a:rPr>
              <a:t>tool.notify_inventory_agent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63"/>
          <p:cNvSpPr/>
          <p:nvPr/>
        </p:nvSpPr>
        <p:spPr>
          <a:xfrm>
            <a:off x="4462272" y="2057400"/>
            <a:ext cx="164700" cy="366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63"/>
          <p:cNvSpPr/>
          <p:nvPr/>
        </p:nvSpPr>
        <p:spPr>
          <a:xfrm>
            <a:off x="4546554" y="1970332"/>
            <a:ext cx="128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300"/>
              </a:buClr>
              <a:buSzPts val="900"/>
              <a:buFont typeface="Calibri"/>
              <a:buNone/>
            </a:pPr>
            <a:r>
              <a:rPr lang="en" sz="900" b="0" i="0" u="none" strike="noStrike" cap="none" dirty="0">
                <a:solidFill>
                  <a:srgbClr val="FF73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63"/>
          <p:cNvSpPr/>
          <p:nvPr/>
        </p:nvSpPr>
        <p:spPr>
          <a:xfrm>
            <a:off x="4663440" y="1051560"/>
            <a:ext cx="1956900" cy="3246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63"/>
          <p:cNvSpPr/>
          <p:nvPr/>
        </p:nvSpPr>
        <p:spPr>
          <a:xfrm>
            <a:off x="4663440" y="1051560"/>
            <a:ext cx="1956900" cy="411600"/>
          </a:xfrm>
          <a:prstGeom prst="rect">
            <a:avLst/>
          </a:prstGeom>
          <a:solidFill>
            <a:srgbClr val="00967D"/>
          </a:solidFill>
          <a:ln w="12700" cap="flat" cmpd="sng">
            <a:solidFill>
              <a:srgbClr val="009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63"/>
          <p:cNvSpPr/>
          <p:nvPr/>
        </p:nvSpPr>
        <p:spPr>
          <a:xfrm>
            <a:off x="4663440" y="1051560"/>
            <a:ext cx="1956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63"/>
          <p:cNvSpPr/>
          <p:nvPr/>
        </p:nvSpPr>
        <p:spPr>
          <a:xfrm>
            <a:off x="4773168" y="1527048"/>
            <a:ext cx="1737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533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1C2533"/>
                </a:solidFill>
                <a:latin typeface="Arial"/>
                <a:ea typeface="Arial"/>
                <a:cs typeface="Arial"/>
                <a:sym typeface="Arial"/>
              </a:rPr>
              <a:t>Warehouse activated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63"/>
          <p:cNvSpPr/>
          <p:nvPr/>
        </p:nvSpPr>
        <p:spPr>
          <a:xfrm>
            <a:off x="4773168" y="2075688"/>
            <a:ext cx="1737300" cy="15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858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Customer Agent simultaneously calls notify_warehouse_agent. Warehouse Agent prepares pick-and-dispatch workflow.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63"/>
          <p:cNvSpPr/>
          <p:nvPr/>
        </p:nvSpPr>
        <p:spPr>
          <a:xfrm>
            <a:off x="4754880" y="3657600"/>
            <a:ext cx="1773900" cy="2559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63"/>
          <p:cNvSpPr/>
          <p:nvPr/>
        </p:nvSpPr>
        <p:spPr>
          <a:xfrm>
            <a:off x="4754880" y="3657600"/>
            <a:ext cx="1773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967D"/>
              </a:buClr>
              <a:buSzPts val="850"/>
              <a:buFont typeface="Arial"/>
              <a:buNone/>
            </a:pPr>
            <a:r>
              <a:rPr lang="en" sz="850" b="0" i="0" u="none" strike="noStrike" cap="none">
                <a:solidFill>
                  <a:srgbClr val="00967D"/>
                </a:solidFill>
                <a:latin typeface="Arial"/>
                <a:ea typeface="Arial"/>
                <a:cs typeface="Arial"/>
                <a:sym typeface="Arial"/>
              </a:rPr>
              <a:t>tool.notify_warehouse_agent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63"/>
          <p:cNvSpPr/>
          <p:nvPr/>
        </p:nvSpPr>
        <p:spPr>
          <a:xfrm>
            <a:off x="6620256" y="2057400"/>
            <a:ext cx="164700" cy="36600"/>
          </a:xfrm>
          <a:prstGeom prst="rect">
            <a:avLst/>
          </a:prstGeom>
          <a:solidFill>
            <a:srgbClr val="FF7300"/>
          </a:solidFill>
          <a:ln w="12700" cap="flat" cmpd="sng">
            <a:solidFill>
              <a:srgbClr val="FF73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63"/>
          <p:cNvSpPr/>
          <p:nvPr/>
        </p:nvSpPr>
        <p:spPr>
          <a:xfrm>
            <a:off x="6704538" y="1970332"/>
            <a:ext cx="128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7300"/>
              </a:buClr>
              <a:buSzPts val="900"/>
              <a:buFont typeface="Calibri"/>
              <a:buNone/>
            </a:pPr>
            <a:r>
              <a:rPr lang="en" sz="900" b="0" i="0" u="none" strike="noStrike" cap="none" dirty="0">
                <a:solidFill>
                  <a:srgbClr val="FF7300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63"/>
          <p:cNvSpPr/>
          <p:nvPr/>
        </p:nvSpPr>
        <p:spPr>
          <a:xfrm>
            <a:off x="6821424" y="1051560"/>
            <a:ext cx="1956900" cy="3246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78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63"/>
          <p:cNvSpPr/>
          <p:nvPr/>
        </p:nvSpPr>
        <p:spPr>
          <a:xfrm>
            <a:off x="6821424" y="1051560"/>
            <a:ext cx="1956900" cy="411600"/>
          </a:xfrm>
          <a:prstGeom prst="rect">
            <a:avLst/>
          </a:prstGeom>
          <a:solidFill>
            <a:srgbClr val="7B5EA7"/>
          </a:solidFill>
          <a:ln w="12700" cap="flat" cmpd="sng">
            <a:solidFill>
              <a:srgbClr val="7B5E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63"/>
          <p:cNvSpPr/>
          <p:nvPr/>
        </p:nvSpPr>
        <p:spPr>
          <a:xfrm>
            <a:off x="6821424" y="1051560"/>
            <a:ext cx="1956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 Black"/>
              <a:buNone/>
            </a:pPr>
            <a:r>
              <a:rPr lang="en" sz="2000" b="1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63"/>
          <p:cNvSpPr/>
          <p:nvPr/>
        </p:nvSpPr>
        <p:spPr>
          <a:xfrm>
            <a:off x="6931152" y="1527048"/>
            <a:ext cx="1737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533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1C2533"/>
                </a:solidFill>
                <a:latin typeface="Arial"/>
                <a:ea typeface="Arial"/>
                <a:cs typeface="Arial"/>
                <a:sym typeface="Arial"/>
              </a:rPr>
              <a:t>Supplier reorders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63"/>
          <p:cNvSpPr/>
          <p:nvPr/>
        </p:nvSpPr>
        <p:spPr>
          <a:xfrm>
            <a:off x="6931152" y="2075688"/>
            <a:ext cx="1737300" cy="15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858"/>
              </a:buClr>
              <a:buSzPts val="1050"/>
              <a:buFont typeface="Arial"/>
              <a:buNone/>
            </a:pPr>
            <a:r>
              <a:rPr lang="en" sz="1050" b="0" i="0" u="none" strike="noStrike" cap="none">
                <a:solidFill>
                  <a:srgbClr val="3A4858"/>
                </a:solidFill>
                <a:latin typeface="Arial"/>
                <a:ea typeface="Arial"/>
                <a:cs typeface="Arial"/>
                <a:sym typeface="Arial"/>
              </a:rPr>
              <a:t>Inventory Agent detects low stock and calls notify_supplier_agent. Supplier Agent raises purchase orders automatically.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63"/>
          <p:cNvSpPr/>
          <p:nvPr/>
        </p:nvSpPr>
        <p:spPr>
          <a:xfrm>
            <a:off x="6912864" y="3657600"/>
            <a:ext cx="1773900" cy="255900"/>
          </a:xfrm>
          <a:prstGeom prst="rect">
            <a:avLst/>
          </a:prstGeom>
          <a:solidFill>
            <a:srgbClr val="F0F4F8"/>
          </a:solidFill>
          <a:ln w="9525" cap="flat" cmpd="sng">
            <a:solidFill>
              <a:srgbClr val="E8EA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63"/>
          <p:cNvSpPr/>
          <p:nvPr/>
        </p:nvSpPr>
        <p:spPr>
          <a:xfrm>
            <a:off x="6912864" y="3657600"/>
            <a:ext cx="17739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B5EA7"/>
              </a:buClr>
              <a:buSzPts val="850"/>
              <a:buFont typeface="Arial"/>
              <a:buNone/>
            </a:pPr>
            <a:r>
              <a:rPr lang="en" sz="850" b="0" i="0" u="none" strike="noStrike" cap="none">
                <a:solidFill>
                  <a:srgbClr val="7B5EA7"/>
                </a:solidFill>
                <a:latin typeface="Arial"/>
                <a:ea typeface="Arial"/>
                <a:cs typeface="Arial"/>
                <a:sym typeface="Arial"/>
              </a:rPr>
              <a:t>tool.notify_supplier_agent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305</Words>
  <Application>Microsoft Macintosh PowerPoint</Application>
  <PresentationFormat>On-screen Show (16:9)</PresentationFormat>
  <Paragraphs>80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Arial Black</vt:lpstr>
      <vt:lpstr>Arial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Ashwin WSO2</cp:lastModifiedBy>
  <cp:revision>4</cp:revision>
  <dcterms:modified xsi:type="dcterms:W3CDTF">2026-06-11T13:09:21Z</dcterms:modified>
</cp:coreProperties>
</file>